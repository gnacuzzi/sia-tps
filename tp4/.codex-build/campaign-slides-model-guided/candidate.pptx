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11e5c246574918" /><Relationship Type="http://schemas.openxmlformats.org/officeDocument/2006/relationships/extended-properties" Target="/docProps/app.xml" Id="R89aadc94b2134c78" /><Relationship Type="http://schemas.openxmlformats.org/officeDocument/2006/relationships/officeDocument" Target="/ppt/presentation.xml" Id="R73a320cc704840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c83d4526af41fd"/>
  </p:sldMasterIdLst>
  <p:notesMasterIdLst>
    <p:notesMasterId xmlns:r="http://schemas.openxmlformats.org/officeDocument/2006/relationships" r:id="R48d095b63228464e"/>
  </p:notesMasterIdLst>
  <p:sldIdLst>
    <p:sldId xmlns:r="http://schemas.openxmlformats.org/officeDocument/2006/relationships" id="256" r:id="Ra154616b0d5546d4"/>
    <p:sldId xmlns:r="http://schemas.openxmlformats.org/officeDocument/2006/relationships" id="257" r:id="R54db28cd213443eb"/>
    <p:sldId xmlns:r="http://schemas.openxmlformats.org/officeDocument/2006/relationships" id="258" r:id="Ref8d1bdc72f044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14422f8471444c" /><Relationship Type="http://schemas.openxmlformats.org/officeDocument/2006/relationships/slideMaster" Target="/ppt/slideMasters/slideMaster1.xml" Id="R7ec83d4526af41fd" /><Relationship Type="http://schemas.openxmlformats.org/officeDocument/2006/relationships/notesMaster" Target="/ppt/notesMasters/notesMaster1.xml" Id="R48d095b63228464e" /><Relationship Type="http://schemas.openxmlformats.org/officeDocument/2006/relationships/presProps" Target="/ppt/presProps.xml" Id="Re59a71b54d8b44d3" /><Relationship Type="http://schemas.openxmlformats.org/officeDocument/2006/relationships/tableStyles" Target="/ppt/tableStyles.xml" Id="R872ecdea72a04589" /><Relationship Type="http://schemas.openxmlformats.org/officeDocument/2006/relationships/slide" Target="/ppt/slides/slide1.xml" Id="Ra154616b0d5546d4" /><Relationship Type="http://schemas.openxmlformats.org/officeDocument/2006/relationships/slide" Target="/ppt/slides/slide2.xml" Id="R54db28cd213443eb" /><Relationship Type="http://schemas.openxmlformats.org/officeDocument/2006/relationships/slide" Target="/ppt/slides/slide3.xml" Id="Ref8d1bdc72f044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f0e52f52a142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39177878e04315" /><Relationship Type="http://schemas.openxmlformats.org/officeDocument/2006/relationships/notesMaster" Target="/ppt/notesMasters/notesMaster1.xml" Id="R49f41210bd294f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1a8676a2e748c7" /><Relationship Type="http://schemas.openxmlformats.org/officeDocument/2006/relationships/notesMaster" Target="/ppt/notesMasters/notesMaster1.xml" Id="R0ba1932f6b1c46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f6e85efe024559" /><Relationship Type="http://schemas.openxmlformats.org/officeDocument/2006/relationships/notesMaster" Target="/ppt/notesMasters/notesMaster1.xml" Id="Rdd466c64802a4f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Significado: la decisión no comienza con una fórmula comercial aplicada a todo el catálogo.</a:t>
            </a:r>
          </a:p>
          <a:p xmlns:a="http://schemas.openxmlformats.org/drawingml/2006/main">
            <a:r>
              <a:t>Aporte: Kohonen restringe el tipo de perfil, PCA/Oja define la dirección y las métricas originales resuelven dentro de ese conjunto.</a:t>
            </a:r>
          </a:p>
          <a:p xmlns:a="http://schemas.openxmlformats.org/drawingml/2006/main">
            <a:r>
              <a:t>Fuentes: docs/pca-creadores/README.md; docs/oja-creadores/README.md; docs/kohonen-experimentos/07-interpretation/README.md; docs/campanas-seleccion-guiada-modelos/README.md.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Significado: cada fila muestra el creador que gana después de pasar los filtros de región, afinidad y dirección de PC1.</a:t>
            </a:r>
          </a:p>
          <a:p xmlns:a="http://schemas.openxmlformats.org/drawingml/2006/main">
            <a:r>
              <a:t>Aporte: la tabla permite justificar la elección con resultados de Kohonen y PCA/Oja, no sólo con métricas originales.</a:t>
            </a:r>
          </a:p>
          <a:p xmlns:a="http://schemas.openxmlformats.org/drawingml/2006/main">
            <a:r>
              <a:t>Los resultados son proxies descriptivos. No predicen ventas ni adopciones.</a:t>
            </a:r>
          </a:p>
          <a:p xmlns:a="http://schemas.openxmlformats.org/drawingml/2006/main">
            <a:r>
              <a:t>Fuente: docs/campanas-seleccion-guiada-modelos/generated/seleccion_final.csv.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Significado: la selección por modelos aumenta la afinidad temática y reduce el precio en las cuatro campañas.</a:t>
            </a:r>
          </a:p>
          <a:p xmlns:a="http://schemas.openxmlformats.org/drawingml/2006/main">
            <a:r>
              <a:t>Aporte: la comparación muestra el costo de esa decisión. En belleza y perros, el creador con más followers conserva mayor volumen estimado; la propuesta prioriza coherencia de perfil y costo.</a:t>
            </a:r>
          </a:p>
          <a:p xmlns:a="http://schemas.openxmlformats.org/drawingml/2006/main">
            <a:r>
              <a:t>Las cifras son proxies descriptivos, no conversiones observadas.</a:t>
            </a:r>
          </a:p>
          <a:p xmlns:a="http://schemas.openxmlformats.org/drawingml/2006/main">
            <a:r>
              <a:t>Fuentes: datos/creadores.csv; docs/campanas-seleccion-guiada-modelos/generated/seleccion_final.csv.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eb53dfdf3a4ac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3f4eedcdc744b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f59c753e0f4a2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a5cdb59f11415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8ad572e1f1433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14873059cd40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677A16-9860-4EB4-85C1-0ACE6495B3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2AB139A-E2FA-447E-AD70-3970DA6CB4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4C54AC6-9706-44FD-A511-B0B3D1DB3B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C75B8F-7D74-4A47-B38A-EB04368B50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AB794C9-B647-4AEA-AA26-2B0E1452F7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7FBAA8E-1EFF-4401-8DD1-CD62F87DC8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74B12DB-4AE5-4F96-9901-B809FFD695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D10A07A-290C-48E9-942A-0F4A59221B7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036439-5698-48A6-9D03-D9410B9868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7FFB9C-0C00-4EAA-9F98-023DF918FF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39dcd5932c477e" /><Relationship Type="http://schemas.openxmlformats.org/officeDocument/2006/relationships/slideLayout" Target="/ppt/slideLayouts/slideLayout1.xml" Id="R30fe67861b2d4908" /><Relationship Type="http://schemas.openxmlformats.org/officeDocument/2006/relationships/slideLayout" Target="/ppt/slideLayouts/slideLayout2.xml" Id="R89122ef2527a4a99" /><Relationship Type="http://schemas.openxmlformats.org/officeDocument/2006/relationships/slideLayout" Target="/ppt/slideLayouts/slideLayout3.xml" Id="Rfbe590e22b994f0f" /><Relationship Type="http://schemas.openxmlformats.org/officeDocument/2006/relationships/slideLayout" Target="/ppt/slideLayouts/slideLayout4.xml" Id="R691c2ba8ad2d4f00" /><Relationship Type="http://schemas.openxmlformats.org/officeDocument/2006/relationships/slideLayout" Target="/ppt/slideLayouts/slideLayout5.xml" Id="R971c9ff89d4449f7" /><Relationship Type="http://schemas.openxmlformats.org/officeDocument/2006/relationships/slideLayout" Target="/ppt/slideLayouts/slideLayout6.xml" Id="R5eb88fcf50cd42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fe67861b2d4908"/>
    <p:sldLayoutId xmlns:r="http://schemas.openxmlformats.org/officeDocument/2006/relationships" id="2147483650" r:id="R89122ef2527a4a99"/>
    <p:sldLayoutId xmlns:r="http://schemas.openxmlformats.org/officeDocument/2006/relationships" id="2147483651" r:id="Rfbe590e22b994f0f"/>
    <p:sldLayoutId xmlns:r="http://schemas.openxmlformats.org/officeDocument/2006/relationships" id="2147483652" r:id="R691c2ba8ad2d4f00"/>
    <p:sldLayoutId xmlns:r="http://schemas.openxmlformats.org/officeDocument/2006/relationships" id="2147483653" r:id="R971c9ff89d4449f7"/>
    <p:sldLayoutId xmlns:r="http://schemas.openxmlformats.org/officeDocument/2006/relationships" id="2147483654" r:id="R5eb88fcf50cd42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315f4acdf341d3" /><Relationship Type="http://schemas.openxmlformats.org/officeDocument/2006/relationships/notesSlide" Target="/ppt/notesSlides/notesSlide1.xml" Id="R21e4c64f1d0342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5f050000ce46a3" /><Relationship Type="http://schemas.openxmlformats.org/officeDocument/2006/relationships/notesSlide" Target="/ppt/notesSlides/notesSlide2.xml" Id="Rab924c80058b4c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fa69ce5f264fed" /><Relationship Type="http://schemas.openxmlformats.org/officeDocument/2006/relationships/chart" Target="/ppt/slides/charts/chart1.xml" Id="Rd7b8d989e5c74264" /><Relationship Type="http://schemas.openxmlformats.org/officeDocument/2006/relationships/chart" Target="/ppt/slides/charts/chart2.xml" Id="R06246f73c513494e" /><Relationship Type="http://schemas.openxmlformats.org/officeDocument/2006/relationships/notesSlide" Target="/ppt/notesSlides/notesSlide3.xml" Id="R93326a3d967e487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@mateconideas</c:v>
          </c:tx>
          <c:spPr>
            <a:solidFill xmlns:a="http://schemas.openxmlformats.org/drawingml/2006/main">
              <a:srgbClr val="ED7D14"/>
            </a:solidFill>
          </c:spPr>
          <c:invertIfNegative val="0"/>
          <c:cat>
            <c:strLit>
              <c:ptCount val="4"/>
              <c:pt idx="0">
                <c:v>Arte</c:v>
              </c:pt>
              <c:pt idx="1">
                <c:v>Perros</c:v>
              </c:pt>
              <c:pt idx="2">
                <c:v>Belleza</c:v>
              </c:pt>
              <c:pt idx="3">
                <c:v>Fútbol</c:v>
              </c:pt>
            </c:strLit>
          </c:cat>
          <c:val>
            <c:numLit>
              <c:formatCode>General</c:formatCode>
              <c:ptCount val="4"/>
              <c:pt idx="0">
                <c:v>15.3</c:v>
              </c:pt>
              <c:pt idx="1">
                <c:v>13.23</c:v>
              </c:pt>
              <c:pt idx="2">
                <c:v>61.58</c:v>
              </c:pt>
              <c:pt idx="3">
                <c:v>9.89</c:v>
              </c:pt>
            </c:numLit>
          </c:val>
        </c:ser>
        <c:ser>
          <c:idx val="1"/>
          <c:order val="1"/>
          <c:tx>
            <c:v>Selección por modelos</c:v>
          </c:tx>
          <c:spPr>
            <a:solidFill xmlns:a="http://schemas.openxmlformats.org/drawingml/2006/main">
              <a:srgbClr val="1F6397"/>
            </a:solidFill>
          </c:spPr>
          <c:invertIfNegative val="0"/>
          <c:cat>
            <c:strLit>
              <c:ptCount val="4"/>
              <c:pt idx="0">
                <c:v>Arte</c:v>
              </c:pt>
              <c:pt idx="1">
                <c:v>Perros</c:v>
              </c:pt>
              <c:pt idx="2">
                <c:v>Belleza</c:v>
              </c:pt>
              <c:pt idx="3">
                <c:v>Fútbol</c:v>
              </c:pt>
            </c:strLit>
          </c:cat>
          <c:val>
            <c:numLit>
              <c:formatCode>General</c:formatCode>
              <c:ptCount val="4"/>
              <c:pt idx="0">
                <c:v>70.19</c:v>
              </c:pt>
              <c:pt idx="1">
                <c:v>68.83</c:v>
              </c:pt>
              <c:pt idx="2">
                <c:v>74.13</c:v>
              </c:pt>
              <c:pt idx="3">
                <c:v>82.18</c:v>
              </c:pt>
            </c:numLit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202A36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4E0EA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E0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E0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596A79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@mateconideas</c:v>
          </c:tx>
          <c:spPr>
            <a:solidFill xmlns:a="http://schemas.openxmlformats.org/drawingml/2006/main">
              <a:srgbClr val="ED7D14"/>
            </a:solidFill>
          </c:spPr>
          <c:invertIfNegative val="0"/>
          <c:cat>
            <c:strLit>
              <c:ptCount val="4"/>
              <c:pt idx="0">
                <c:v>Arte</c:v>
              </c:pt>
              <c:pt idx="1">
                <c:v>Perros</c:v>
              </c:pt>
              <c:pt idx="2">
                <c:v>Belleza</c:v>
              </c:pt>
              <c:pt idx="3">
                <c:v>Fútbol</c:v>
              </c:pt>
            </c:strLit>
          </c:cat>
          <c:val>
            <c:numLit>
              <c:formatCode>General</c:formatCode>
              <c:ptCount val="4"/>
              <c:pt idx="0">
                <c:v>6.31069</c:v>
              </c:pt>
              <c:pt idx="1">
                <c:v>6.31069</c:v>
              </c:pt>
              <c:pt idx="2">
                <c:v>6.31069</c:v>
              </c:pt>
              <c:pt idx="3">
                <c:v>6.31069</c:v>
              </c:pt>
            </c:numLit>
          </c:val>
        </c:ser>
        <c:ser>
          <c:idx val="1"/>
          <c:order val="1"/>
          <c:tx>
            <c:v>Selección por modelos</c:v>
          </c:tx>
          <c:spPr>
            <a:solidFill xmlns:a="http://schemas.openxmlformats.org/drawingml/2006/main">
              <a:srgbClr val="1F6397"/>
            </a:solidFill>
          </c:spPr>
          <c:invertIfNegative val="0"/>
          <c:cat>
            <c:strLit>
              <c:ptCount val="4"/>
              <c:pt idx="0">
                <c:v>Arte</c:v>
              </c:pt>
              <c:pt idx="1">
                <c:v>Perros</c:v>
              </c:pt>
              <c:pt idx="2">
                <c:v>Belleza</c:v>
              </c:pt>
              <c:pt idx="3">
                <c:v>Fútbol</c:v>
              </c:pt>
            </c:strLit>
          </c:cat>
          <c:val>
            <c:numLit>
              <c:formatCode>General</c:formatCode>
              <c:ptCount val="4"/>
              <c:pt idx="0">
                <c:v>2.36186</c:v>
              </c:pt>
              <c:pt idx="1">
                <c:v>0.18869</c:v>
              </c:pt>
              <c:pt idx="2">
                <c:v>2.92231</c:v>
              </c:pt>
              <c:pt idx="3">
                <c:v>3.2512</c:v>
              </c:pt>
            </c:numLit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202A36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4E0EA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E0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E0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596A79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A1FAA3-6C3B-4C62-A3C2-2A9780C5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D427F7-C092-4F63-B425-1D29D5AE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8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8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8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8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8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8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8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8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8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rPr>
              <a:t>Los modelos delimitan el perfil antes de comparar métricas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84E1D4-DAAD-4E6A-89BF-605545BF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382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2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2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2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2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2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2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2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2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2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rPr>
              <a:t>La selección sigue una secuencia reproducible y evita elegir sobre todo el catálogo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D7B63-4C05-442C-BC37-C03DF988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rPr>
              <a:t>Ejercicio 1 · Campañas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6594BD-036F-4414-B6B6-E6E68DF5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0933B-3F64-4A93-B927-D13463B2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85950"/>
            <a:ext cx="1057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F454D-7B2C-41B0-8DBB-1F5A5318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8097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D7D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CF5596-97C2-43E9-B190-96CFF5E3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8097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0798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97F36E-59DF-4F0B-828C-F156F94C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097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F63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FDB3AA-8BE5-484F-B987-FB211CAB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097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D7D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35A1FC-E6AF-4DB8-8D6B-1D5216DB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8097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02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A5ECB0-AFCA-46A5-A73F-1FDC5636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192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4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4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4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4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4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4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4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4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4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4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68CFA7-1B00-4D7D-9532-5B9D7021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609725"/>
            <a:ext cx="1600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rPr>
              <a:t>OBJETIVO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D9D0F0-E2E7-4C89-BCDF-2DEAAEEF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7170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rPr>
              <a:t>Define el perfil buscado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5BF095-4F27-4FC8-9064-2E038AD3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rPr>
              <a:t>Ventas prioriza escala y descubrimiento. Perros prioriza profundidad y acción.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EFBC8A-7DEF-49C0-B438-8BAEB64E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6192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425" b="1">
                <a:solidFill>
                  <a:srgbClr val="07989B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425" b="1">
                <a:solidFill>
                  <a:srgbClr val="07989B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425" b="1">
                <a:solidFill>
                  <a:srgbClr val="07989B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425" b="1">
                <a:solidFill>
                  <a:srgbClr val="07989B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425" b="1">
                <a:solidFill>
                  <a:srgbClr val="07989B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425" b="1">
                <a:solidFill>
                  <a:srgbClr val="07989B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425" b="1">
                <a:solidFill>
                  <a:srgbClr val="07989B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425" b="1">
                <a:solidFill>
                  <a:srgbClr val="07989B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425" b="1">
                <a:solidFill>
                  <a:srgbClr val="07989B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425" b="1">
                <a:solidFill>
                  <a:srgbClr val="07989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0798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989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5E9A1F-AB5B-4924-8EDB-DF760AAC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609725"/>
            <a:ext cx="1600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07989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1">
                <a:solidFill>
                  <a:srgbClr val="07989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1">
                <a:solidFill>
                  <a:srgbClr val="07989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1">
                <a:solidFill>
                  <a:srgbClr val="07989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1">
                <a:solidFill>
                  <a:srgbClr val="07989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1">
                <a:solidFill>
                  <a:srgbClr val="07989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1">
                <a:solidFill>
                  <a:srgbClr val="07989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1">
                <a:solidFill>
                  <a:srgbClr val="07989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1">
                <a:solidFill>
                  <a:srgbClr val="07989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1">
                <a:solidFill>
                  <a:srgbClr val="07989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798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7989B"/>
                </a:solidFill>
                <a:latin typeface="Helvetica Neue"/>
                <a:ea typeface="Helvetica Neue"/>
                <a:cs typeface="Helvetica Neue"/>
              </a:rPr>
              <a:t>KOHONEN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47D1C9-A6BF-409C-AD29-0A10A4CE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17170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rPr>
              <a:t>Delimita la región temática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AA5414-E920-4F1B-906F-75451F18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9527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rPr>
              <a:t>Sólo entran perfiles de la región correspondiente con asignación estable o fronteriza.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FF5A29-D7A0-455A-A9BE-789242B3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6192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425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425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425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425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425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425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425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425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425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425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C64307-1467-4642-B029-0200B7F7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1609725"/>
            <a:ext cx="1600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rPr>
              <a:t>AFINIDAD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8CB4D3-423E-412A-B795-253E3327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17170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rPr>
              <a:t>Conserva la mitad más temática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38F8FC-342F-495F-B4B5-FA132A38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9527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rPr>
              <a:t>El corte es la mediana de cada región. Afinidad es el porcentaje de contenido sobre el tema.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953F16-6FB7-430B-887B-11AA93F0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6192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4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4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4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4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4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4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4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4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4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4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EE8B62-E75D-49D9-BE14-25B515C8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1609725"/>
            <a:ext cx="1600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rPr>
              <a:t>PCA Y OJA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1C4508-8958-4F59-BBFC-F6615D5E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7170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rPr>
              <a:t>Elige escala o profundidad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A93304-B34C-4E49-AD95-04670F60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9527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rPr>
              <a:t>PC1 alto para ventas. PC1 bajo para perros. Oja confirma el mismo eje.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FD6059-F00C-4378-A9A1-C06CE177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6192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339F79-4EC5-4EC8-9009-B5579DEF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609725"/>
            <a:ext cx="1600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rPr>
              <a:t>MÉTRICA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D11A35-7BAB-476E-82F6-2B064A09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7170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rPr>
              <a:t>Desempata dentro del perfil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D05857-B914-4B95-A7BC-DA2E81F7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9527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rPr>
              <a:t>Alcance nuevo relevante para ventas. Visitas nuevas relevantes para perros.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09716B-602E-49AA-859F-C31F472E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434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1C69E0-14F6-4425-9231-6730A1AB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rPr>
              <a:t>Qué aporta el análisis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87E507-A494-4D9A-8F4B-C28FFFA3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0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0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0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0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0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0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0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0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0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rPr>
              <a:t>Los modelos determinan quién puede competir. Las métricas originales eligen entre esos perfiles.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6655FD-580C-4F4B-B569-DA778422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19675"/>
            <a:ext cx="800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rPr>
              <a:t>No se interpreta Oja como un segundo voto ni Kohonen como un ranking automático.</a:t>
            </a:r>
          </a:p>
        </p:txBody>
      </p:sp>
    </p:spTree>
    <p:extLst>
      <p:ext uri="{BB962C8B-B14F-4D97-AF65-F5344CB8AC3E}">
        <p14:creationId xmlns:p14="http://schemas.microsoft.com/office/powerpoint/2010/main" val="10224164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4C3428-F035-4681-AEC8-88879AB4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10973-824A-4B52-9540-12719158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8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8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8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8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8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8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8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8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8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rPr>
              <a:t>Los modelos cambian tres de las cuatro selecciones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BDAFD9-80BF-4D5F-BC3C-1043BF0D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382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2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2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2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2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2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2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2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2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2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rPr>
              <a:t>La métrica ligada al objetivo se aplica sólo después de verificar región, afinidad y PC1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25439-3490-446D-A064-C09DEB3A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rPr>
              <a:t>Ejercicio 1 · Campañas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15FA9A-4EAB-40CF-9CE0-727EEE71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rPr>
              <a:t>28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3F8877-F804-48F5-A6D9-35F3ED757E74}"/>
              </a:ext>
            </a:extLst>
          </p:cNvPr>
          <p:cNvGraphicFramePr/>
          <p:nvPr/>
        </p:nvGraphicFramePr>
        <p:xfrm>
          <a:off xmlns:a="http://schemas.openxmlformats.org/drawingml/2006/main" x="666750" y="1571625"/>
          <a:ext xmlns:a="http://schemas.openxmlformats.org/drawingml/2006/main" cx="10858500" cy="3352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62050"/>
                <a:gridCol w="1428750"/>
                <a:gridCol w="1809750"/>
                <a:gridCol w="3333750"/>
                <a:gridCol w="3124200"/>
              </a:tblGrid>
              <a:tr h="67056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Campaña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E0EA"/>
                      </a:solidFill>
                      <a:prstDash val="solid"/>
                    </a:lnL>
                    <a:lnR w="9525">
                      <a:solidFill>
                        <a:srgbClr val="D4E0EA"/>
                      </a:solidFill>
                      <a:prstDash val="solid"/>
                    </a:lnR>
                    <a:lnT w="9525">
                      <a:solidFill>
                        <a:srgbClr val="D4E0EA"/>
                      </a:solidFill>
                      <a:prstDash val="solid"/>
                    </a:lnT>
                    <a:lnB w="9525">
                      <a:solidFill>
                        <a:srgbClr val="D4E0EA"/>
                      </a:solidFill>
                      <a:prstDash val="solid"/>
                    </a:lnB>
                    <a:solidFill>
                      <a:srgbClr val="10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Perfil exigido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0EA"/>
                      </a:solidFill>
                      <a:prstDash val="solid"/>
                    </a:lnR>
                    <a:lnT w="9525">
                      <a:solidFill>
                        <a:srgbClr val="D4E0EA"/>
                      </a:solidFill>
                      <a:prstDash val="solid"/>
                    </a:lnT>
                    <a:lnB w="9525">
                      <a:solidFill>
                        <a:srgbClr val="D4E0EA"/>
                      </a:solidFill>
                      <a:prstDash val="solid"/>
                    </a:lnB>
                    <a:solidFill>
                      <a:srgbClr val="10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Seleccionado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0EA"/>
                      </a:solidFill>
                      <a:prstDash val="solid"/>
                    </a:lnR>
                    <a:lnT w="9525">
                      <a:solidFill>
                        <a:srgbClr val="D4E0EA"/>
                      </a:solidFill>
                      <a:prstDash val="solid"/>
                    </a:lnT>
                    <a:lnB w="9525">
                      <a:solidFill>
                        <a:srgbClr val="D4E0EA"/>
                      </a:solidFill>
                      <a:prstDash val="solid"/>
                    </a:lnB>
                    <a:solidFill>
                      <a:srgbClr val="10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Evidencia de los modelos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0EA"/>
                      </a:solidFill>
                      <a:prstDash val="solid"/>
                    </a:lnR>
                    <a:lnT w="9525">
                      <a:solidFill>
                        <a:srgbClr val="D4E0EA"/>
                      </a:solidFill>
                      <a:prstDash val="solid"/>
                    </a:lnT>
                    <a:lnB w="9525">
                      <a:solidFill>
                        <a:srgbClr val="D4E0EA"/>
                      </a:solidFill>
                      <a:prstDash val="solid"/>
                    </a:lnB>
                    <a:solidFill>
                      <a:srgbClr val="10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Resultado estimado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0EA"/>
                      </a:solidFill>
                      <a:prstDash val="solid"/>
                    </a:lnR>
                    <a:lnT w="9525">
                      <a:solidFill>
                        <a:srgbClr val="D4E0EA"/>
                      </a:solidFill>
                      <a:prstDash val="solid"/>
                    </a:lnT>
                    <a:lnB w="9525">
                      <a:solidFill>
                        <a:srgbClr val="D4E0EA"/>
                      </a:solidFill>
                      <a:prstDash val="solid"/>
                    </a:lnB>
                    <a:solidFill>
                      <a:srgbClr val="102B45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202A3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Fútbol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E0EA"/>
                      </a:solidFill>
                      <a:prstDash val="solid"/>
                    </a:lnL>
                    <a:lnR w="9525">
                      <a:solidFill>
                        <a:srgbClr val="D4E0EA"/>
                      </a:solidFill>
                      <a:prstDash val="solid"/>
                    </a:lnR>
                    <a:lnB w="9525">
                      <a:solidFill>
                        <a:srgbClr val="D4E0EA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A3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Escala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0EA"/>
                      </a:solidFill>
                      <a:prstDash val="solid"/>
                    </a:lnR>
                    <a:lnB w="9525">
                      <a:solidFill>
                        <a:srgbClr val="D4E0EA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F639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@golconmate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0EA"/>
                      </a:solidFill>
                      <a:prstDash val="solid"/>
                    </a:lnR>
                    <a:lnB w="9525">
                      <a:solidFill>
                        <a:srgbClr val="D4E0EA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A3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Estable 100 %</a:t>
                      </a:r>
                    </a:p>
                    <a:p>
                      <a:r>
                        <a:rPr sz="1050">
                          <a:solidFill>
                            <a:srgbClr val="202A3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Afinidad 82,2 % · PC1 +3,34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0EA"/>
                      </a:solidFill>
                      <a:prstDash val="solid"/>
                    </a:lnR>
                    <a:lnB w="9525">
                      <a:solidFill>
                        <a:srgbClr val="D4E0EA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A3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102 mil cuentas</a:t>
                      </a:r>
                    </a:p>
                    <a:p>
                      <a:r>
                        <a:rPr sz="1050">
                          <a:solidFill>
                            <a:srgbClr val="202A3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nuevas y afines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0EA"/>
                      </a:solidFill>
                      <a:prstDash val="solid"/>
                    </a:lnR>
                    <a:lnB w="9525">
                      <a:solidFill>
                        <a:srgbClr val="D4E0EA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202A3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Belleza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E0EA"/>
                      </a:solidFill>
                      <a:prstDash val="solid"/>
                    </a:lnL>
                    <a:lnR w="9525">
                      <a:solidFill>
                        <a:srgbClr val="D4E0EA"/>
                      </a:solidFill>
                      <a:prstDash val="solid"/>
                    </a:lnR>
                    <a:lnB w="9525">
                      <a:solidFill>
                        <a:srgbClr val="D4E0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A3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Escala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0EA"/>
                      </a:solidFill>
                      <a:prstDash val="solid"/>
                    </a:lnR>
                    <a:lnB w="9525">
                      <a:solidFill>
                        <a:srgbClr val="D4E0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F639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@glamencasa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0EA"/>
                      </a:solidFill>
                      <a:prstDash val="solid"/>
                    </a:lnR>
                    <a:lnB w="9525">
                      <a:solidFill>
                        <a:srgbClr val="D4E0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A3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Estable 100 %</a:t>
                      </a:r>
                    </a:p>
                    <a:p>
                      <a:r>
                        <a:rPr sz="1050">
                          <a:solidFill>
                            <a:srgbClr val="202A3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Afinidad 74,1 % · PC1 +1,91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0EA"/>
                      </a:solidFill>
                      <a:prstDash val="solid"/>
                    </a:lnR>
                    <a:lnB w="9525">
                      <a:solidFill>
                        <a:srgbClr val="D4E0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A3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25,7 mil cuentas</a:t>
                      </a:r>
                    </a:p>
                    <a:p>
                      <a:r>
                        <a:rPr sz="1050">
                          <a:solidFill>
                            <a:srgbClr val="202A3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nuevas y afines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0EA"/>
                      </a:solidFill>
                      <a:prstDash val="solid"/>
                    </a:lnR>
                    <a:lnB w="9525">
                      <a:solidFill>
                        <a:srgbClr val="D4E0EA"/>
                      </a:solidFill>
                      <a:prstDash val="solid"/>
                    </a:lnB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202A3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Perros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E0EA"/>
                      </a:solidFill>
                      <a:prstDash val="solid"/>
                    </a:lnL>
                    <a:lnR w="9525">
                      <a:solidFill>
                        <a:srgbClr val="D4E0EA"/>
                      </a:solidFill>
                      <a:prstDash val="solid"/>
                    </a:lnR>
                    <a:lnB w="9525">
                      <a:solidFill>
                        <a:srgbClr val="D4E0EA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A3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Profundidad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0EA"/>
                      </a:solidFill>
                      <a:prstDash val="solid"/>
                    </a:lnR>
                    <a:lnB w="9525">
                      <a:solidFill>
                        <a:srgbClr val="D4E0EA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F639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@guiadehuellas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0EA"/>
                      </a:solidFill>
                      <a:prstDash val="solid"/>
                    </a:lnR>
                    <a:lnB w="9525">
                      <a:solidFill>
                        <a:srgbClr val="D4E0EA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A3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Estable 100 %</a:t>
                      </a:r>
                    </a:p>
                    <a:p>
                      <a:r>
                        <a:rPr sz="1050">
                          <a:solidFill>
                            <a:srgbClr val="202A3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Afinidad 68,8 % · PC1 −2,41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0EA"/>
                      </a:solidFill>
                      <a:prstDash val="solid"/>
                    </a:lnR>
                    <a:lnB w="9525">
                      <a:solidFill>
                        <a:srgbClr val="D4E0EA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A3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51 visitas nuevas</a:t>
                      </a:r>
                    </a:p>
                    <a:p>
                      <a:r>
                        <a:rPr sz="1050">
                          <a:solidFill>
                            <a:srgbClr val="202A3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 afines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0EA"/>
                      </a:solidFill>
                      <a:prstDash val="solid"/>
                    </a:lnR>
                    <a:lnB w="9525">
                      <a:solidFill>
                        <a:srgbClr val="D4E0EA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202A3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E0EA"/>
                      </a:solidFill>
                      <a:prstDash val="solid"/>
                    </a:lnL>
                    <a:lnR w="9525">
                      <a:solidFill>
                        <a:srgbClr val="D4E0EA"/>
                      </a:solidFill>
                      <a:prstDash val="solid"/>
                    </a:lnR>
                    <a:lnB w="9525">
                      <a:solidFill>
                        <a:srgbClr val="D4E0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D7D1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Escala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0EA"/>
                      </a:solidFill>
                      <a:prstDash val="solid"/>
                    </a:lnR>
                    <a:lnB w="9525">
                      <a:solidFill>
                        <a:srgbClr val="D4E0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F639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@pincelcotidiano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0EA"/>
                      </a:solidFill>
                      <a:prstDash val="solid"/>
                    </a:lnR>
                    <a:lnB w="9525">
                      <a:solidFill>
                        <a:srgbClr val="D4E0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A3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Fronterizo 70 %</a:t>
                      </a:r>
                    </a:p>
                    <a:p>
                      <a:r>
                        <a:rPr sz="1050">
                          <a:solidFill>
                            <a:srgbClr val="202A3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Afinidad 70,2 % · PC1 +0,69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0EA"/>
                      </a:solidFill>
                      <a:prstDash val="solid"/>
                    </a:lnR>
                    <a:lnB w="9525">
                      <a:solidFill>
                        <a:srgbClr val="D4E0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A3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23,5 mil cuentas</a:t>
                      </a:r>
                    </a:p>
                    <a:p>
                      <a:r>
                        <a:rPr sz="1050">
                          <a:solidFill>
                            <a:srgbClr val="202A3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nuevas y afines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0EA"/>
                      </a:solidFill>
                      <a:prstDash val="solid"/>
                    </a:lnR>
                    <a:lnB w="9525">
                      <a:solidFill>
                        <a:srgbClr val="D4E0E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9848EE-6F48-4989-90E2-14E2F394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387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75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75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75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75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75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75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75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75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75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rPr>
              <a:t>Qué significa el resultado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AF2960-723C-475E-91B1-D799B560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62600"/>
            <a:ext cx="790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rPr>
              <a:t>El ganador maximiza la señal del objetivo dentro del perfil definido por los modelos. No es el máximo global del catálogo.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F61818-DFAD-4E65-8D57-D8CE510B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219700"/>
            <a:ext cx="26479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ED7D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22F4D8-5AB9-4254-B413-8224A2C4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3530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1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1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1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1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1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1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1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1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1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ED7D14"/>
                </a:solidFill>
                <a:latin typeface="Helvetica Neue"/>
                <a:ea typeface="Helvetica Neue"/>
                <a:cs typeface="Helvetica Neue"/>
              </a:rPr>
              <a:t>Afinidad temática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25E00F-23D8-43D5-BCEE-4300DEA1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6197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rPr>
              <a:t>porcentaje del contenido dedicado al tema</a:t>
            </a:r>
          </a:p>
        </p:txBody>
      </p:sp>
    </p:spTree>
    <p:extLst>
      <p:ext uri="{BB962C8B-B14F-4D97-AF65-F5344CB8AC3E}">
        <p14:creationId xmlns:p14="http://schemas.microsoft.com/office/powerpoint/2010/main" val="8141866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9ADC2A-200E-4C8A-A7A8-9F12926D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AA75BF-994C-40F0-8142-5A3D31CC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8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8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8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8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8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8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8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8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8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rPr>
              <a:t>Más afinidad y menor precio, con distinto volumen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1BDD3-CEB3-4D6F-8C86-6E9D2C8B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382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2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2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2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2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2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2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2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2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2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rPr>
              <a:t>Cada seleccionado se compara con @mateconideas, el creador con más followers del catálogo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DC3B47-E51E-4D22-A2E8-7495B32D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rPr>
              <a:t>Ejercicio 1 · Campañas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C72897-C2DC-4A75-87F5-79E93FAA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rPr>
              <a:t>29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F01C3B3E-544D-4975-8B4D-B3AD5F583320}"/>
              </a:ext>
            </a:extLst>
          </p:cNvPr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5286375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b8d989e5c7426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039718-0E21-441F-AE62-97DFD4EA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528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rPr>
              <a:t>Afinidad temática (%)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5289E7D9-E91B-4FD0-AA5F-5213ACB1B5AA}"/>
              </a:ext>
            </a:extLst>
          </p:cNvPr>
          <p:cNvGraphicFramePr/>
          <p:nvPr/>
        </p:nvGraphicFramePr>
        <p:xfrm>
          <a:off xmlns:a="http://schemas.openxmlformats.org/drawingml/2006/main" x="6429375" y="1809750"/>
          <a:ext xmlns:a="http://schemas.openxmlformats.org/drawingml/2006/main" cx="5095875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6246f73c513494e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B72CF6-52D2-4BC1-9A0D-46FF0195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485900"/>
            <a:ext cx="509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rPr>
              <a:t>Precio por publicación (miles de USD)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604D54-EA22-4F13-9C3F-30500EB6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C4A5EB-79A1-44AD-A760-2C6E2688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67300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27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27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27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27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27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27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27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27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27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rPr>
              <a:t>Volumen estimado ligado al objetivo · selección / @mateconideas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DB2448-FAAC-4A46-A2F2-E0E6B1AD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48300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050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050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050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050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050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050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050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050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050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rPr>
              <a:t>FÚTBOL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6315BD-5C71-4264-8594-DAC471B4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34050"/>
            <a:ext cx="2524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rPr>
              <a:t>102 mil / 11 mil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A14C2F-9636-4082-9694-9B89DE3C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72175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rPr>
              <a:t>cuentas nuevas y afines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C7D61D-A931-4EB3-B951-0DA42D17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57825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416E07-114F-4A44-A269-DD8E7FF5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48300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050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050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050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050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050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050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050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050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050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rPr>
              <a:t>BELLEZA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3D2824-FF22-4C51-A7FE-FA4641B6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734050"/>
            <a:ext cx="2524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rPr>
              <a:t>25,7 mil / 70,4 mil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336B28-D4B7-4963-A19E-AA5878DD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972175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rPr>
              <a:t>cuentas nuevas y afines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B4F1BE-B5EC-4F82-A03A-44BB379D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457825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CCA91F-1D19-44D1-9F79-00DB6C15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448300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07989B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050" b="1">
                <a:solidFill>
                  <a:srgbClr val="07989B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050" b="1">
                <a:solidFill>
                  <a:srgbClr val="07989B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050" b="1">
                <a:solidFill>
                  <a:srgbClr val="07989B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050" b="1">
                <a:solidFill>
                  <a:srgbClr val="07989B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050" b="1">
                <a:solidFill>
                  <a:srgbClr val="07989B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050" b="1">
                <a:solidFill>
                  <a:srgbClr val="07989B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050" b="1">
                <a:solidFill>
                  <a:srgbClr val="07989B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050" b="1">
                <a:solidFill>
                  <a:srgbClr val="07989B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050" b="1">
                <a:solidFill>
                  <a:srgbClr val="07989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0798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7989B"/>
                </a:solidFill>
                <a:latin typeface="Helvetica Neue"/>
                <a:ea typeface="Helvetica Neue"/>
                <a:cs typeface="Helvetica Neue"/>
              </a:rPr>
              <a:t>PERROS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39B234-FD22-4D81-AAEF-84E0DB3B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734050"/>
            <a:ext cx="2524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rPr>
              <a:t>51 / 248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13B7C4-370C-4CC6-A8B2-CB355EAD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972175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rPr>
              <a:t>visitas nuevas y afines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59A5E4-8E82-4EB3-9430-F5776A8E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457825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078089-956B-4EC7-BA73-0328F006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48300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050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050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050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050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050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050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050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050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050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F6397"/>
                </a:solidFill>
                <a:latin typeface="Helvetica Neue"/>
                <a:ea typeface="Helvetica Neue"/>
                <a:cs typeface="Helvetica Neue"/>
              </a:rPr>
              <a:t>ARTE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72830A-0368-479E-8AF4-20C3A1CD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734050"/>
            <a:ext cx="2524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02A36"/>
                </a:solidFill>
                <a:latin typeface="Helvetica Neue"/>
                <a:ea typeface="Helvetica Neue"/>
                <a:cs typeface="Helvetica Neue"/>
              </a:rPr>
              <a:t>23,5 mil / 17,5 mil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040ACC-E2BB-479F-8C1F-4300AA09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972175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A79"/>
                </a:solidFill>
                <a:latin typeface="Helvetica Neue"/>
                <a:ea typeface="Helvetica Neue"/>
                <a:cs typeface="Helvetica Neue"/>
              </a:rPr>
              <a:t>cuentas nuevas y afines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7CB3BF-2CE9-46AA-8C22-0BF4D2C2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2579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97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97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97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97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97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97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97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97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97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B45"/>
                </a:solidFill>
                <a:latin typeface="Helvetica Neue"/>
                <a:ea typeface="Helvetica Neue"/>
                <a:cs typeface="Helvetica Neue"/>
              </a:rPr>
              <a:t>Belleza y perros resignan volumen estimado para conservar el perfil aprendido por los modelos y reducir el costo.</a:t>
            </a:r>
          </a:p>
        </p:txBody>
      </p:sp>
    </p:spTree>
    <p:extLst>
      <p:ext uri="{BB962C8B-B14F-4D97-AF65-F5344CB8AC3E}">
        <p14:creationId xmlns:p14="http://schemas.microsoft.com/office/powerpoint/2010/main" val="10111616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2026-10-27T07:32:05.9170000Z</dcterms:created>
  <dcterms:modified xsi:type="dcterms:W3CDTF">2026-10-27T07:32:05.9170000Z</dcterms:modified>
</coreProperties>
</file>